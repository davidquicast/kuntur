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8"/>
  </p:notesMasterIdLst>
  <p:handoutMasterIdLst>
    <p:handoutMasterId r:id="rId19"/>
  </p:handoutMasterIdLst>
  <p:sldIdLst>
    <p:sldId id="266" r:id="rId2"/>
    <p:sldId id="288" r:id="rId3"/>
    <p:sldId id="286" r:id="rId4"/>
    <p:sldId id="294" r:id="rId5"/>
    <p:sldId id="295" r:id="rId6"/>
    <p:sldId id="296" r:id="rId7"/>
    <p:sldId id="292" r:id="rId8"/>
    <p:sldId id="308" r:id="rId9"/>
    <p:sldId id="297" r:id="rId10"/>
    <p:sldId id="298" r:id="rId11"/>
    <p:sldId id="299" r:id="rId12"/>
    <p:sldId id="300" r:id="rId13"/>
    <p:sldId id="301" r:id="rId14"/>
    <p:sldId id="302" r:id="rId15"/>
    <p:sldId id="287" r:id="rId16"/>
    <p:sldId id="306" r:id="rId17"/>
  </p:sldIdLst>
  <p:sldSz cx="12192000" cy="6858000"/>
  <p:notesSz cx="6858000" cy="9144000"/>
  <p:embeddedFontLst>
    <p:embeddedFont>
      <p:font typeface="Abril Fatface" panose="020F0502020204030204" pitchFamily="2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Mono" panose="00000009000000000000" pitchFamily="49" charset="0"/>
      <p:regular r:id="rId29"/>
      <p:bold r:id="rId30"/>
      <p:italic r:id="rId31"/>
      <p:boldItalic r:id="rId32"/>
    </p:embeddedFont>
    <p:embeddedFont>
      <p:font typeface="Source Sans Pro" panose="020B0503030403020204" pitchFamily="3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Alonso Quispe Castillo" initials="" lastIdx="1" clrIdx="0">
    <p:extLst>
      <p:ext uri="{19B8F6BF-5375-455C-9EA6-DF929625EA0E}">
        <p15:presenceInfo xmlns:p15="http://schemas.microsoft.com/office/powerpoint/2012/main" userId="3600fb6b10da6c5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51410" autoAdjust="0"/>
  </p:normalViewPr>
  <p:slideViewPr>
    <p:cSldViewPr snapToGrid="0">
      <p:cViewPr varScale="1">
        <p:scale>
          <a:sx n="66" d="100"/>
          <a:sy n="66" d="100"/>
        </p:scale>
        <p:origin x="487" y="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123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F90DBE-3386-4A95-BF08-EA09FFC415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34C9F-0D89-49D3-B887-70E6B42CA4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3F09F-BDA9-48CC-9C56-EF503386F163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A4B86-9D28-4D63-890E-B26A7205A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9FD37-EF84-4B77-9A65-EFA0FF3567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C110F-C1C0-4C4C-9358-9AB2DE48E8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59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a073618e6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a073618e6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a073618e60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a073618e60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069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64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 preserve="1" userDrawn="1">
  <p:cSld name="1_003 Talking Poi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5"/>
          <p:cNvGrpSpPr/>
          <p:nvPr/>
        </p:nvGrpSpPr>
        <p:grpSpPr>
          <a:xfrm>
            <a:off x="8201100" y="4138775"/>
            <a:ext cx="3509100" cy="2030700"/>
            <a:chOff x="8115925" y="1776575"/>
            <a:chExt cx="3509100" cy="2030700"/>
          </a:xfrm>
        </p:grpSpPr>
        <p:sp>
          <p:nvSpPr>
            <p:cNvPr id="83" name="Google Shape;83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" name="Google Shape;84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5"/>
          <p:cNvGrpSpPr/>
          <p:nvPr/>
        </p:nvGrpSpPr>
        <p:grpSpPr>
          <a:xfrm>
            <a:off x="481800" y="4138775"/>
            <a:ext cx="3509100" cy="2030700"/>
            <a:chOff x="396625" y="1776575"/>
            <a:chExt cx="3509100" cy="2030700"/>
          </a:xfrm>
        </p:grpSpPr>
        <p:sp>
          <p:nvSpPr>
            <p:cNvPr id="89" name="Google Shape;89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5"/>
          <p:cNvGrpSpPr/>
          <p:nvPr/>
        </p:nvGrpSpPr>
        <p:grpSpPr>
          <a:xfrm>
            <a:off x="4341450" y="4138775"/>
            <a:ext cx="3509100" cy="2030700"/>
            <a:chOff x="4234200" y="1776575"/>
            <a:chExt cx="3509100" cy="2030700"/>
          </a:xfrm>
        </p:grpSpPr>
        <p:sp>
          <p:nvSpPr>
            <p:cNvPr id="95" name="Google Shape;95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5"/>
          <p:cNvGrpSpPr/>
          <p:nvPr/>
        </p:nvGrpSpPr>
        <p:grpSpPr>
          <a:xfrm>
            <a:off x="481800" y="1776575"/>
            <a:ext cx="3509100" cy="2030700"/>
            <a:chOff x="396625" y="1776575"/>
            <a:chExt cx="3509100" cy="2030700"/>
          </a:xfrm>
        </p:grpSpPr>
        <p:sp>
          <p:nvSpPr>
            <p:cNvPr id="101" name="Google Shape;101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" name="Google Shape;106;p5"/>
          <p:cNvGrpSpPr/>
          <p:nvPr userDrawn="1"/>
        </p:nvGrpSpPr>
        <p:grpSpPr>
          <a:xfrm>
            <a:off x="8201100" y="1776575"/>
            <a:ext cx="3509100" cy="2030700"/>
            <a:chOff x="8115925" y="1776575"/>
            <a:chExt cx="3509100" cy="2030700"/>
          </a:xfrm>
        </p:grpSpPr>
        <p:sp>
          <p:nvSpPr>
            <p:cNvPr id="107" name="Google Shape;107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09" name="Google Shape;109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5"/>
          <p:cNvGrpSpPr/>
          <p:nvPr userDrawn="1"/>
        </p:nvGrpSpPr>
        <p:grpSpPr>
          <a:xfrm>
            <a:off x="4341450" y="1776575"/>
            <a:ext cx="3509100" cy="2030700"/>
            <a:chOff x="4234200" y="1776575"/>
            <a:chExt cx="3509100" cy="2030700"/>
          </a:xfrm>
        </p:grpSpPr>
        <p:sp>
          <p:nvSpPr>
            <p:cNvPr id="113" name="Google Shape;113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90775" y="523275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 idx="5"/>
          </p:nvPr>
        </p:nvSpPr>
        <p:spPr>
          <a:xfrm>
            <a:off x="942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6"/>
          </p:nvPr>
        </p:nvSpPr>
        <p:spPr>
          <a:xfrm>
            <a:off x="4448700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7"/>
          </p:nvPr>
        </p:nvSpPr>
        <p:spPr>
          <a:xfrm>
            <a:off x="49077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8"/>
          </p:nvPr>
        </p:nvSpPr>
        <p:spPr>
          <a:xfrm>
            <a:off x="4448700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 idx="14"/>
          </p:nvPr>
        </p:nvSpPr>
        <p:spPr>
          <a:xfrm>
            <a:off x="8406625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 idx="15"/>
          </p:nvPr>
        </p:nvSpPr>
        <p:spPr>
          <a:xfrm>
            <a:off x="840662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410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CUSTOM_8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8017650" y="2301500"/>
            <a:ext cx="3145200" cy="39030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470150" y="2301500"/>
            <a:ext cx="3145200" cy="39030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922650" y="2301500"/>
            <a:ext cx="3145200" cy="39030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2"/>
          <p:cNvGrpSpPr/>
          <p:nvPr/>
        </p:nvGrpSpPr>
        <p:grpSpPr>
          <a:xfrm>
            <a:off x="1477800" y="1631525"/>
            <a:ext cx="2081400" cy="1649100"/>
            <a:chOff x="1381925" y="1555325"/>
            <a:chExt cx="2081400" cy="1649100"/>
          </a:xfrm>
        </p:grpSpPr>
        <p:sp>
          <p:nvSpPr>
            <p:cNvPr id="202" name="Google Shape;202;p12"/>
            <p:cNvSpPr/>
            <p:nvPr/>
          </p:nvSpPr>
          <p:spPr>
            <a:xfrm>
              <a:off x="1381925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1381925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2"/>
          <p:cNvGrpSpPr/>
          <p:nvPr/>
        </p:nvGrpSpPr>
        <p:grpSpPr>
          <a:xfrm>
            <a:off x="1556171" y="1743134"/>
            <a:ext cx="635280" cy="147600"/>
            <a:chOff x="2147366" y="4139382"/>
            <a:chExt cx="635280" cy="147600"/>
          </a:xfrm>
        </p:grpSpPr>
        <p:sp>
          <p:nvSpPr>
            <p:cNvPr id="205" name="Google Shape;205;p1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2"/>
          <p:cNvGrpSpPr/>
          <p:nvPr/>
        </p:nvGrpSpPr>
        <p:grpSpPr>
          <a:xfrm>
            <a:off x="5002038" y="1631525"/>
            <a:ext cx="2081400" cy="1649100"/>
            <a:chOff x="5002050" y="1555325"/>
            <a:chExt cx="2081400" cy="1649100"/>
          </a:xfrm>
        </p:grpSpPr>
        <p:sp>
          <p:nvSpPr>
            <p:cNvPr id="209" name="Google Shape;209;p12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50020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2"/>
          <p:cNvGrpSpPr/>
          <p:nvPr/>
        </p:nvGrpSpPr>
        <p:grpSpPr>
          <a:xfrm>
            <a:off x="8549550" y="1631525"/>
            <a:ext cx="2081400" cy="1649100"/>
            <a:chOff x="8549550" y="1555325"/>
            <a:chExt cx="2081400" cy="1649100"/>
          </a:xfrm>
        </p:grpSpPr>
        <p:sp>
          <p:nvSpPr>
            <p:cNvPr id="212" name="Google Shape;212;p12"/>
            <p:cNvSpPr/>
            <p:nvPr/>
          </p:nvSpPr>
          <p:spPr>
            <a:xfrm>
              <a:off x="85495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8549550" y="1555325"/>
              <a:ext cx="2081400" cy="1649100"/>
            </a:xfrm>
            <a:prstGeom prst="roundRect">
              <a:avLst>
                <a:gd name="adj" fmla="val 3539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2"/>
          <p:cNvGrpSpPr/>
          <p:nvPr/>
        </p:nvGrpSpPr>
        <p:grpSpPr>
          <a:xfrm>
            <a:off x="5052859" y="1743134"/>
            <a:ext cx="635280" cy="147600"/>
            <a:chOff x="2147366" y="4139382"/>
            <a:chExt cx="635280" cy="147600"/>
          </a:xfrm>
        </p:grpSpPr>
        <p:sp>
          <p:nvSpPr>
            <p:cNvPr id="215" name="Google Shape;215;p1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2"/>
          <p:cNvGrpSpPr/>
          <p:nvPr/>
        </p:nvGrpSpPr>
        <p:grpSpPr>
          <a:xfrm>
            <a:off x="8625484" y="1743134"/>
            <a:ext cx="635280" cy="147600"/>
            <a:chOff x="2147366" y="4139382"/>
            <a:chExt cx="635280" cy="147600"/>
          </a:xfrm>
        </p:grpSpPr>
        <p:sp>
          <p:nvSpPr>
            <p:cNvPr id="219" name="Google Shape;219;p1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2"/>
          <p:cNvSpPr txBox="1">
            <a:spLocks noGrp="1"/>
          </p:cNvSpPr>
          <p:nvPr>
            <p:ph type="subTitle" idx="1"/>
          </p:nvPr>
        </p:nvSpPr>
        <p:spPr>
          <a:xfrm>
            <a:off x="1189052" y="35634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23" name="Google Shape;223;p12"/>
          <p:cNvSpPr txBox="1">
            <a:spLocks noGrp="1"/>
          </p:cNvSpPr>
          <p:nvPr>
            <p:ph type="subTitle" idx="2"/>
          </p:nvPr>
        </p:nvSpPr>
        <p:spPr>
          <a:xfrm>
            <a:off x="4713302" y="35634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accent2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24" name="Google Shape;224;p12"/>
          <p:cNvSpPr txBox="1">
            <a:spLocks noGrp="1"/>
          </p:cNvSpPr>
          <p:nvPr>
            <p:ph type="subTitle" idx="3"/>
          </p:nvPr>
        </p:nvSpPr>
        <p:spPr>
          <a:xfrm>
            <a:off x="8237552" y="3563475"/>
            <a:ext cx="26586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>
                <a:solidFill>
                  <a:schemeClr val="accent3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title"/>
          </p:nvPr>
        </p:nvSpPr>
        <p:spPr>
          <a:xfrm>
            <a:off x="1189050" y="364775"/>
            <a:ext cx="9707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26" name="Google Shape;226;p12"/>
          <p:cNvSpPr txBox="1">
            <a:spLocks noGrp="1"/>
          </p:cNvSpPr>
          <p:nvPr>
            <p:ph type="body" idx="4"/>
          </p:nvPr>
        </p:nvSpPr>
        <p:spPr>
          <a:xfrm>
            <a:off x="1189050" y="4001425"/>
            <a:ext cx="26589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227" name="Google Shape;227;p12"/>
          <p:cNvSpPr txBox="1">
            <a:spLocks noGrp="1"/>
          </p:cNvSpPr>
          <p:nvPr>
            <p:ph type="body" idx="5"/>
          </p:nvPr>
        </p:nvSpPr>
        <p:spPr>
          <a:xfrm>
            <a:off x="4713300" y="3989996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228" name="Google Shape;228;p12"/>
          <p:cNvSpPr txBox="1">
            <a:spLocks noGrp="1"/>
          </p:cNvSpPr>
          <p:nvPr>
            <p:ph type="body" idx="6"/>
          </p:nvPr>
        </p:nvSpPr>
        <p:spPr>
          <a:xfrm>
            <a:off x="8237550" y="3976767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" name="Google Shape;10;p1"/>
          <p:cNvGrpSpPr/>
          <p:nvPr userDrawn="1"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58" r:id="rId2"/>
    <p:sldLayoutId id="2147483659" r:id="rId3"/>
    <p:sldLayoutId id="214748366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63;p9">
            <a:extLst>
              <a:ext uri="{FF2B5EF4-FFF2-40B4-BE49-F238E27FC236}">
                <a16:creationId xmlns:a16="http://schemas.microsoft.com/office/drawing/2014/main" id="{2B1A291F-4122-47E5-9D67-4877717B164E}"/>
              </a:ext>
            </a:extLst>
          </p:cNvPr>
          <p:cNvSpPr/>
          <p:nvPr/>
        </p:nvSpPr>
        <p:spPr>
          <a:xfrm>
            <a:off x="700888" y="555883"/>
            <a:ext cx="10790223" cy="5746233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" name="Google Shape;164;p9">
            <a:extLst>
              <a:ext uri="{FF2B5EF4-FFF2-40B4-BE49-F238E27FC236}">
                <a16:creationId xmlns:a16="http://schemas.microsoft.com/office/drawing/2014/main" id="{6A7BAC71-0035-4C14-B9CE-879C6A53E796}"/>
              </a:ext>
            </a:extLst>
          </p:cNvPr>
          <p:cNvGrpSpPr/>
          <p:nvPr/>
        </p:nvGrpSpPr>
        <p:grpSpPr>
          <a:xfrm>
            <a:off x="838238" y="779576"/>
            <a:ext cx="635280" cy="147600"/>
            <a:chOff x="2147366" y="4139382"/>
            <a:chExt cx="635280" cy="147600"/>
          </a:xfrm>
        </p:grpSpPr>
        <p:sp>
          <p:nvSpPr>
            <p:cNvPr id="40" name="Google Shape;165;p9">
              <a:extLst>
                <a:ext uri="{FF2B5EF4-FFF2-40B4-BE49-F238E27FC236}">
                  <a16:creationId xmlns:a16="http://schemas.microsoft.com/office/drawing/2014/main" id="{AD4CC785-D57D-43F3-9B89-40F7DAC422EB}"/>
                </a:ext>
              </a:extLst>
            </p:cNvPr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66;p9">
              <a:extLst>
                <a:ext uri="{FF2B5EF4-FFF2-40B4-BE49-F238E27FC236}">
                  <a16:creationId xmlns:a16="http://schemas.microsoft.com/office/drawing/2014/main" id="{733F516C-63B8-49F2-BA2C-1691EA64E344}"/>
                </a:ext>
              </a:extLst>
            </p:cNvPr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67;p9">
              <a:extLst>
                <a:ext uri="{FF2B5EF4-FFF2-40B4-BE49-F238E27FC236}">
                  <a16:creationId xmlns:a16="http://schemas.microsoft.com/office/drawing/2014/main" id="{76DF8119-0FB5-43F2-A59D-C0A13044CF7C}"/>
                </a:ext>
              </a:extLst>
            </p:cNvPr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380;p22">
            <a:extLst>
              <a:ext uri="{FF2B5EF4-FFF2-40B4-BE49-F238E27FC236}">
                <a16:creationId xmlns:a16="http://schemas.microsoft.com/office/drawing/2014/main" id="{887D1BC5-DB9F-48CF-A72A-C98316273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6013" y="779576"/>
            <a:ext cx="6904232" cy="128457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accent1"/>
                </a:solidFill>
              </a:rPr>
              <a:t>KUNTUR</a:t>
            </a:r>
            <a:br>
              <a:rPr lang="en" sz="3200" dirty="0">
                <a:solidFill>
                  <a:schemeClr val="accent1"/>
                </a:solidFill>
              </a:rPr>
            </a:br>
            <a:r>
              <a:rPr lang="en" sz="3200" dirty="0"/>
              <a:t>LLM DE ASISTENCIA LEGAL EN TEXTOS JURIDICOS DE PERÚ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F9EEFC-DB22-4C5F-B8A8-412BD4EE4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849" y="2515913"/>
            <a:ext cx="3121251" cy="3121251"/>
          </a:xfrm>
          <a:prstGeom prst="flowChartConnector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7503B64D-692F-4B02-AD21-2CAB7C9899E8}"/>
              </a:ext>
            </a:extLst>
          </p:cNvPr>
          <p:cNvSpPr txBox="1">
            <a:spLocks/>
          </p:cNvSpPr>
          <p:nvPr/>
        </p:nvSpPr>
        <p:spPr>
          <a:xfrm>
            <a:off x="2016273" y="5703331"/>
            <a:ext cx="8159451" cy="59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/>
            <a:r>
              <a:rPr lang="es-ES" b="1" dirty="0"/>
              <a:t>III HACKATHON OPEN-SOURCE INTERNACIONAL DE NLP EN ESPAÑOL</a:t>
            </a:r>
            <a:endParaRPr lang="en-GB" dirty="0"/>
          </a:p>
        </p:txBody>
      </p:sp>
      <p:pic>
        <p:nvPicPr>
          <p:cNvPr id="3074" name="Picture 2" descr="SomosNLP - Democratizando el NLP en español">
            <a:extLst>
              <a:ext uri="{FF2B5EF4-FFF2-40B4-BE49-F238E27FC236}">
                <a16:creationId xmlns:a16="http://schemas.microsoft.com/office/drawing/2014/main" id="{2AAEBC57-5EB8-4D76-A713-0DC783BE4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352" y="2130316"/>
            <a:ext cx="3780971" cy="378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3" y="267060"/>
            <a:ext cx="6796800" cy="1135603"/>
          </a:xfrm>
        </p:spPr>
        <p:txBody>
          <a:bodyPr/>
          <a:lstStyle/>
          <a:p>
            <a:r>
              <a:rPr lang="en-US" dirty="0"/>
              <a:t>CONTEXTO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10216B6-65EB-4D7B-B709-B211DB8F7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3" y="1402663"/>
            <a:ext cx="10317722" cy="1829115"/>
          </a:xfrm>
        </p:spPr>
        <p:txBody>
          <a:bodyPr/>
          <a:lstStyle/>
          <a:p>
            <a:pPr marL="0" indent="0"/>
            <a:r>
              <a:rPr lang="es-ES" dirty="0"/>
              <a:t>La asistencia legal es crucial en Perú para garantizar la equidad y proteger los derechos de todos los ciudadanos. Sin embargo, muchas personas, especialmente en zonas rurales, carecen de acceso a información legal y asesoramiento especializado, lo que limita su capacidad para proteger sus derechos.</a:t>
            </a:r>
            <a:endParaRPr lang="en-GB" dirty="0"/>
          </a:p>
        </p:txBody>
      </p:sp>
      <p:pic>
        <p:nvPicPr>
          <p:cNvPr id="4100" name="Picture 4" descr="Perú: el esfuerzo de jóvenes en zonas rurales para estudiar en la pandemia  - Vatican News">
            <a:extLst>
              <a:ext uri="{FF2B5EF4-FFF2-40B4-BE49-F238E27FC236}">
                <a16:creationId xmlns:a16="http://schemas.microsoft.com/office/drawing/2014/main" id="{35309EFF-1F75-4C07-BC7A-6775DA45B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23" y="3626223"/>
            <a:ext cx="4799009" cy="270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ejorar la calidad de la educación en zonas rurales pobres y aisladas de  Indonesia">
            <a:extLst>
              <a:ext uri="{FF2B5EF4-FFF2-40B4-BE49-F238E27FC236}">
                <a16:creationId xmlns:a16="http://schemas.microsoft.com/office/drawing/2014/main" id="{A0EB8956-ABB6-41B2-BA8C-CDA95584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993" y="3626223"/>
            <a:ext cx="4797526" cy="270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24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3" y="267060"/>
            <a:ext cx="6796800" cy="1135603"/>
          </a:xfrm>
        </p:spPr>
        <p:txBody>
          <a:bodyPr/>
          <a:lstStyle/>
          <a:p>
            <a:r>
              <a:rPr lang="en-US" dirty="0"/>
              <a:t>PROBLEMA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2175768-B569-464A-B49E-1A7B749A6517}"/>
              </a:ext>
            </a:extLst>
          </p:cNvPr>
          <p:cNvSpPr txBox="1">
            <a:spLocks/>
          </p:cNvSpPr>
          <p:nvPr/>
        </p:nvSpPr>
        <p:spPr>
          <a:xfrm>
            <a:off x="790435" y="1504312"/>
            <a:ext cx="4612906" cy="508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/>
            <a:r>
              <a:rPr lang="es-ES" dirty="0"/>
              <a:t>La falta de educación jurídica y la escasez de acceso a información legal.</a:t>
            </a:r>
          </a:p>
          <a:p>
            <a:pPr marL="0" indent="0"/>
            <a:endParaRPr lang="es-ES" dirty="0"/>
          </a:p>
          <a:p>
            <a:pPr marL="0" indent="0"/>
            <a:r>
              <a:rPr lang="es-ES" dirty="0"/>
              <a:t>Esta problemática se agrava en zonas rurales, donde la conectividad a Internet es limitada o nula, o no hay profesionales con experiencia en el tema, lo que dificulta aún más la comprensión y la acción legal.</a:t>
            </a:r>
            <a:endParaRPr lang="en-GB" dirty="0"/>
          </a:p>
        </p:txBody>
      </p:sp>
      <p:pic>
        <p:nvPicPr>
          <p:cNvPr id="2066" name="Picture 18" descr="Perú: cementeros en lucha contra la vulneración de derechos |BWI Home">
            <a:extLst>
              <a:ext uri="{FF2B5EF4-FFF2-40B4-BE49-F238E27FC236}">
                <a16:creationId xmlns:a16="http://schemas.microsoft.com/office/drawing/2014/main" id="{101F274F-0C4D-4015-B086-70549393AE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5" b="8093"/>
          <a:stretch/>
        </p:blipFill>
        <p:spPr bwMode="auto">
          <a:xfrm>
            <a:off x="6096000" y="3429000"/>
            <a:ext cx="4915300" cy="289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Eres estudiante de derecho? Conoce cómo participar en el concurso de  litigación oral organizado por el PJ">
            <a:extLst>
              <a:ext uri="{FF2B5EF4-FFF2-40B4-BE49-F238E27FC236}">
                <a16:creationId xmlns:a16="http://schemas.microsoft.com/office/drawing/2014/main" id="{A74C0DE7-96A1-4A06-BAB1-D98D839EB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614" y="384174"/>
            <a:ext cx="4004129" cy="267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9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92" y="366908"/>
            <a:ext cx="5288522" cy="912495"/>
          </a:xfrm>
        </p:spPr>
        <p:txBody>
          <a:bodyPr/>
          <a:lstStyle/>
          <a:p>
            <a:r>
              <a:rPr lang="en-US" dirty="0"/>
              <a:t>MOTIVACION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10216B6-65EB-4D7B-B709-B211DB8F7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343" y="1420093"/>
            <a:ext cx="5244662" cy="5070999"/>
          </a:xfrm>
        </p:spPr>
        <p:txBody>
          <a:bodyPr/>
          <a:lstStyle/>
          <a:p>
            <a:pPr marL="0" indent="0"/>
            <a:r>
              <a:rPr lang="es-ES" dirty="0"/>
              <a:t>Nuestro proyecto surge de la necesidad de abordar la falta de comprensión y acceso sencillo a información legal.</a:t>
            </a:r>
          </a:p>
          <a:p>
            <a:pPr marL="0" indent="0"/>
            <a:endParaRPr lang="es-ES" dirty="0"/>
          </a:p>
          <a:p>
            <a:pPr marL="0" indent="0"/>
            <a:r>
              <a:rPr lang="es-ES" dirty="0"/>
              <a:t>Afinando un modelo de len</a:t>
            </a:r>
            <a:r>
              <a:rPr lang="es-ES" sz="1600" dirty="0"/>
              <a:t>g</a:t>
            </a:r>
            <a:r>
              <a:rPr lang="es-ES" dirty="0"/>
              <a:t>uaje especializado con datos legales peruanos, buscamos proporcionar herramientas accesibles y comprensibles para comprender y ejercer los derechos legales.</a:t>
            </a:r>
          </a:p>
        </p:txBody>
      </p:sp>
      <p:pic>
        <p:nvPicPr>
          <p:cNvPr id="10242" name="Picture 2" descr="40 usos para SMARTPHONES en la escuela | Las Cebras Salen">
            <a:extLst>
              <a:ext uri="{FF2B5EF4-FFF2-40B4-BE49-F238E27FC236}">
                <a16:creationId xmlns:a16="http://schemas.microsoft.com/office/drawing/2014/main" id="{23326EDC-C186-4FDB-B0BA-34A952B34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317" y="450761"/>
            <a:ext cx="3568262" cy="235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El 38% no sabe usar internet en zonas rurales de América Latina | DPL News">
            <a:extLst>
              <a:ext uri="{FF2B5EF4-FFF2-40B4-BE49-F238E27FC236}">
                <a16:creationId xmlns:a16="http://schemas.microsoft.com/office/drawing/2014/main" id="{4038F780-CC4B-473F-8A2D-F999E7712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743" y="3557751"/>
            <a:ext cx="4755563" cy="268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83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 Asamblea General adopta la Agenda 2030 para el Desarrollo Sostenible - Desarrollo  Sostenible">
            <a:extLst>
              <a:ext uri="{FF2B5EF4-FFF2-40B4-BE49-F238E27FC236}">
                <a16:creationId xmlns:a16="http://schemas.microsoft.com/office/drawing/2014/main" id="{F3C7F98E-AC6A-4501-AD39-BFE133F3A7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4" b="16023"/>
          <a:stretch/>
        </p:blipFill>
        <p:spPr bwMode="auto">
          <a:xfrm>
            <a:off x="7061691" y="3283628"/>
            <a:ext cx="4696195" cy="278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bjetivo 4 - EDUCACIÓN DE CALIDAD">
            <a:extLst>
              <a:ext uri="{FF2B5EF4-FFF2-40B4-BE49-F238E27FC236}">
                <a16:creationId xmlns:a16="http://schemas.microsoft.com/office/drawing/2014/main" id="{87FDAB86-6862-4B4E-A72A-D95A89479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97" y="1179554"/>
            <a:ext cx="1649118" cy="164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eace, justice and strong institutions">
            <a:extLst>
              <a:ext uri="{FF2B5EF4-FFF2-40B4-BE49-F238E27FC236}">
                <a16:creationId xmlns:a16="http://schemas.microsoft.com/office/drawing/2014/main" id="{BC00160A-EB3B-42A8-969A-52AB57E00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237" y="1179554"/>
            <a:ext cx="1649118" cy="164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3" y="267060"/>
            <a:ext cx="5288522" cy="912495"/>
          </a:xfrm>
        </p:spPr>
        <p:txBody>
          <a:bodyPr/>
          <a:lstStyle/>
          <a:p>
            <a:r>
              <a:rPr lang="en-US" dirty="0"/>
              <a:t>OBJETIVO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10216B6-65EB-4D7B-B709-B211DB8F7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1179554"/>
            <a:ext cx="6352674" cy="5411385"/>
          </a:xfrm>
        </p:spPr>
        <p:txBody>
          <a:bodyPr/>
          <a:lstStyle/>
          <a:p>
            <a:pPr marL="0" indent="0"/>
            <a:r>
              <a:rPr lang="es-ES" dirty="0"/>
              <a:t>General: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Realizar el proceso de fine-</a:t>
            </a:r>
            <a:r>
              <a:rPr lang="es-ES" dirty="0" err="1"/>
              <a:t>tuning</a:t>
            </a:r>
            <a:r>
              <a:rPr lang="es-ES" dirty="0"/>
              <a:t> a un modelo de lenguaje extenso con datos legales específicos de Perú.</a:t>
            </a:r>
          </a:p>
          <a:p>
            <a:pPr marL="0" indent="0"/>
            <a:endParaRPr lang="es-ES" dirty="0"/>
          </a:p>
          <a:p>
            <a:pPr marL="0" indent="0"/>
            <a:r>
              <a:rPr lang="es-ES" dirty="0"/>
              <a:t>Específicos: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Recopilar y preparar un conjunto de datos de preguntas y respuestas legales relevantes y específicos de Perú.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Validar la efectividad del modelo entrenado en la comprensión y generación de texto legal mediante pruebas y evaluaciones internas.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541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8"/>
          <p:cNvSpPr txBox="1">
            <a:spLocks noGrp="1"/>
          </p:cNvSpPr>
          <p:nvPr>
            <p:ph type="subTitle" idx="1"/>
          </p:nvPr>
        </p:nvSpPr>
        <p:spPr>
          <a:xfrm>
            <a:off x="1372067" y="1943536"/>
            <a:ext cx="219258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Elección y limpieza de documentos</a:t>
            </a:r>
            <a:endParaRPr dirty="0"/>
          </a:p>
        </p:txBody>
      </p:sp>
      <p:sp>
        <p:nvSpPr>
          <p:cNvPr id="557" name="Google Shape;557;p38"/>
          <p:cNvSpPr txBox="1">
            <a:spLocks noGrp="1"/>
          </p:cNvSpPr>
          <p:nvPr>
            <p:ph type="subTitle" idx="2"/>
          </p:nvPr>
        </p:nvSpPr>
        <p:spPr>
          <a:xfrm>
            <a:off x="4371742" y="1760478"/>
            <a:ext cx="3447983" cy="1046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Generación de instrucciones preguntas y respuestas</a:t>
            </a:r>
            <a:endParaRPr dirty="0"/>
          </a:p>
        </p:txBody>
      </p:sp>
      <p:sp>
        <p:nvSpPr>
          <p:cNvPr id="558" name="Google Shape;558;p38"/>
          <p:cNvSpPr txBox="1">
            <a:spLocks noGrp="1"/>
          </p:cNvSpPr>
          <p:nvPr>
            <p:ph type="subTitle" idx="3"/>
          </p:nvPr>
        </p:nvSpPr>
        <p:spPr>
          <a:xfrm>
            <a:off x="8383765" y="2010042"/>
            <a:ext cx="2436168" cy="1046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dirty="0"/>
              <a:t>Verificación y feedback</a:t>
            </a:r>
            <a:endParaRPr dirty="0"/>
          </a:p>
        </p:txBody>
      </p:sp>
      <p:sp>
        <p:nvSpPr>
          <p:cNvPr id="559" name="Google Shape;559;p38"/>
          <p:cNvSpPr txBox="1">
            <a:spLocks noGrp="1"/>
          </p:cNvSpPr>
          <p:nvPr>
            <p:ph type="body" idx="4"/>
          </p:nvPr>
        </p:nvSpPr>
        <p:spPr>
          <a:xfrm>
            <a:off x="1114236" y="3595857"/>
            <a:ext cx="2918448" cy="198513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s-ES" dirty="0"/>
              <a:t>Depurar segmentos fuera de contexto, nombres o elementos que no contribuyan en la generación de preguntas.</a:t>
            </a:r>
            <a:endParaRPr lang="en-GB" dirty="0"/>
          </a:p>
        </p:txBody>
      </p:sp>
      <p:sp>
        <p:nvSpPr>
          <p:cNvPr id="560" name="Google Shape;560;p38"/>
          <p:cNvSpPr txBox="1">
            <a:spLocks noGrp="1"/>
          </p:cNvSpPr>
          <p:nvPr>
            <p:ph type="body" idx="5"/>
          </p:nvPr>
        </p:nvSpPr>
        <p:spPr>
          <a:xfrm>
            <a:off x="4638450" y="3658241"/>
            <a:ext cx="3067307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s-ES" dirty="0" err="1"/>
              <a:t>Distillabel</a:t>
            </a:r>
            <a:r>
              <a:rPr lang="es-ES" dirty="0"/>
              <a:t> de </a:t>
            </a:r>
            <a:r>
              <a:rPr lang="es-ES" dirty="0" err="1"/>
              <a:t>Argilla</a:t>
            </a:r>
            <a:r>
              <a:rPr lang="es-ES" dirty="0"/>
              <a:t> para generar </a:t>
            </a:r>
            <a:r>
              <a:rPr lang="es-ES" dirty="0" err="1"/>
              <a:t>instruccionesy</a:t>
            </a:r>
            <a:r>
              <a:rPr lang="es-ES" dirty="0"/>
              <a:t> respuestas basadas en secciones del documento</a:t>
            </a:r>
            <a:endParaRPr lang="en-GB" dirty="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6"/>
          </p:nvPr>
        </p:nvSpPr>
        <p:spPr>
          <a:xfrm>
            <a:off x="8383765" y="3574727"/>
            <a:ext cx="2658900" cy="2238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Comprobar que las respuestas se encuentren basadas en todos los articulos de la constitución</a:t>
            </a:r>
            <a:endParaRPr dirty="0"/>
          </a:p>
        </p:txBody>
      </p:sp>
      <p:sp>
        <p:nvSpPr>
          <p:cNvPr id="565" name="Google Shape;565;p38"/>
          <p:cNvSpPr txBox="1">
            <a:spLocks noGrp="1"/>
          </p:cNvSpPr>
          <p:nvPr>
            <p:ph type="title"/>
          </p:nvPr>
        </p:nvSpPr>
        <p:spPr>
          <a:xfrm>
            <a:off x="1215921" y="439205"/>
            <a:ext cx="9707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12" name="Google Shape;1034;p45">
            <a:extLst>
              <a:ext uri="{FF2B5EF4-FFF2-40B4-BE49-F238E27FC236}">
                <a16:creationId xmlns:a16="http://schemas.microsoft.com/office/drawing/2014/main" id="{2A0A7429-F4EA-4050-B647-ED675811EF90}"/>
              </a:ext>
            </a:extLst>
          </p:cNvPr>
          <p:cNvSpPr/>
          <p:nvPr/>
        </p:nvSpPr>
        <p:spPr>
          <a:xfrm>
            <a:off x="4117075" y="2430696"/>
            <a:ext cx="369169" cy="253623"/>
          </a:xfrm>
          <a:custGeom>
            <a:avLst/>
            <a:gdLst/>
            <a:ahLst/>
            <a:cxnLst/>
            <a:rect l="l" t="t" r="r" b="b"/>
            <a:pathLst>
              <a:path w="11170" h="7442" extrusionOk="0">
                <a:moveTo>
                  <a:pt x="6240" y="0"/>
                </a:moveTo>
                <a:cubicBezTo>
                  <a:pt x="6189" y="0"/>
                  <a:pt x="6136" y="6"/>
                  <a:pt x="6085" y="19"/>
                </a:cubicBezTo>
                <a:lnTo>
                  <a:pt x="2498" y="822"/>
                </a:lnTo>
                <a:cubicBezTo>
                  <a:pt x="2373" y="858"/>
                  <a:pt x="2231" y="929"/>
                  <a:pt x="2124" y="1072"/>
                </a:cubicBezTo>
                <a:lnTo>
                  <a:pt x="999" y="2535"/>
                </a:lnTo>
                <a:lnTo>
                  <a:pt x="0" y="2535"/>
                </a:lnTo>
                <a:lnTo>
                  <a:pt x="0" y="6371"/>
                </a:lnTo>
                <a:lnTo>
                  <a:pt x="660" y="6371"/>
                </a:lnTo>
                <a:cubicBezTo>
                  <a:pt x="1606" y="6371"/>
                  <a:pt x="1677" y="7442"/>
                  <a:pt x="3462" y="7442"/>
                </a:cubicBezTo>
                <a:lnTo>
                  <a:pt x="5853" y="7442"/>
                </a:lnTo>
                <a:cubicBezTo>
                  <a:pt x="6281" y="7442"/>
                  <a:pt x="6638" y="7085"/>
                  <a:pt x="6638" y="6639"/>
                </a:cubicBezTo>
                <a:cubicBezTo>
                  <a:pt x="6638" y="6443"/>
                  <a:pt x="6566" y="6247"/>
                  <a:pt x="6441" y="6122"/>
                </a:cubicBezTo>
                <a:lnTo>
                  <a:pt x="6513" y="6122"/>
                </a:lnTo>
                <a:cubicBezTo>
                  <a:pt x="6959" y="6122"/>
                  <a:pt x="7316" y="5765"/>
                  <a:pt x="7316" y="5319"/>
                </a:cubicBezTo>
                <a:cubicBezTo>
                  <a:pt x="7316" y="5105"/>
                  <a:pt x="7227" y="4908"/>
                  <a:pt x="7084" y="4766"/>
                </a:cubicBezTo>
                <a:cubicBezTo>
                  <a:pt x="7441" y="4694"/>
                  <a:pt x="7708" y="4355"/>
                  <a:pt x="7708" y="3981"/>
                </a:cubicBezTo>
                <a:cubicBezTo>
                  <a:pt x="7708" y="3552"/>
                  <a:pt x="7351" y="3195"/>
                  <a:pt x="6905" y="3195"/>
                </a:cubicBezTo>
                <a:lnTo>
                  <a:pt x="10492" y="3195"/>
                </a:lnTo>
                <a:cubicBezTo>
                  <a:pt x="10866" y="3195"/>
                  <a:pt x="11170" y="2892"/>
                  <a:pt x="11170" y="2535"/>
                </a:cubicBezTo>
                <a:cubicBezTo>
                  <a:pt x="11170" y="2161"/>
                  <a:pt x="10866" y="1857"/>
                  <a:pt x="10492" y="1857"/>
                </a:cubicBezTo>
                <a:lnTo>
                  <a:pt x="3926" y="1857"/>
                </a:lnTo>
                <a:lnTo>
                  <a:pt x="6388" y="1322"/>
                </a:lnTo>
                <a:cubicBezTo>
                  <a:pt x="6745" y="1233"/>
                  <a:pt x="6977" y="876"/>
                  <a:pt x="6888" y="519"/>
                </a:cubicBezTo>
                <a:cubicBezTo>
                  <a:pt x="6827" y="214"/>
                  <a:pt x="6544" y="0"/>
                  <a:pt x="624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34;p45">
            <a:extLst>
              <a:ext uri="{FF2B5EF4-FFF2-40B4-BE49-F238E27FC236}">
                <a16:creationId xmlns:a16="http://schemas.microsoft.com/office/drawing/2014/main" id="{183D9BCA-28B8-4747-B96A-E0A95C83B9A6}"/>
              </a:ext>
            </a:extLst>
          </p:cNvPr>
          <p:cNvSpPr/>
          <p:nvPr/>
        </p:nvSpPr>
        <p:spPr>
          <a:xfrm>
            <a:off x="7705757" y="2423624"/>
            <a:ext cx="369169" cy="253623"/>
          </a:xfrm>
          <a:custGeom>
            <a:avLst/>
            <a:gdLst/>
            <a:ahLst/>
            <a:cxnLst/>
            <a:rect l="l" t="t" r="r" b="b"/>
            <a:pathLst>
              <a:path w="11170" h="7442" extrusionOk="0">
                <a:moveTo>
                  <a:pt x="6240" y="0"/>
                </a:moveTo>
                <a:cubicBezTo>
                  <a:pt x="6189" y="0"/>
                  <a:pt x="6136" y="6"/>
                  <a:pt x="6085" y="19"/>
                </a:cubicBezTo>
                <a:lnTo>
                  <a:pt x="2498" y="822"/>
                </a:lnTo>
                <a:cubicBezTo>
                  <a:pt x="2373" y="858"/>
                  <a:pt x="2231" y="929"/>
                  <a:pt x="2124" y="1072"/>
                </a:cubicBezTo>
                <a:lnTo>
                  <a:pt x="999" y="2535"/>
                </a:lnTo>
                <a:lnTo>
                  <a:pt x="0" y="2535"/>
                </a:lnTo>
                <a:lnTo>
                  <a:pt x="0" y="6371"/>
                </a:lnTo>
                <a:lnTo>
                  <a:pt x="660" y="6371"/>
                </a:lnTo>
                <a:cubicBezTo>
                  <a:pt x="1606" y="6371"/>
                  <a:pt x="1677" y="7442"/>
                  <a:pt x="3462" y="7442"/>
                </a:cubicBezTo>
                <a:lnTo>
                  <a:pt x="5853" y="7442"/>
                </a:lnTo>
                <a:cubicBezTo>
                  <a:pt x="6281" y="7442"/>
                  <a:pt x="6638" y="7085"/>
                  <a:pt x="6638" y="6639"/>
                </a:cubicBezTo>
                <a:cubicBezTo>
                  <a:pt x="6638" y="6443"/>
                  <a:pt x="6566" y="6247"/>
                  <a:pt x="6441" y="6122"/>
                </a:cubicBezTo>
                <a:lnTo>
                  <a:pt x="6513" y="6122"/>
                </a:lnTo>
                <a:cubicBezTo>
                  <a:pt x="6959" y="6122"/>
                  <a:pt x="7316" y="5765"/>
                  <a:pt x="7316" y="5319"/>
                </a:cubicBezTo>
                <a:cubicBezTo>
                  <a:pt x="7316" y="5105"/>
                  <a:pt x="7227" y="4908"/>
                  <a:pt x="7084" y="4766"/>
                </a:cubicBezTo>
                <a:cubicBezTo>
                  <a:pt x="7441" y="4694"/>
                  <a:pt x="7708" y="4355"/>
                  <a:pt x="7708" y="3981"/>
                </a:cubicBezTo>
                <a:cubicBezTo>
                  <a:pt x="7708" y="3552"/>
                  <a:pt x="7351" y="3195"/>
                  <a:pt x="6905" y="3195"/>
                </a:cubicBezTo>
                <a:lnTo>
                  <a:pt x="10492" y="3195"/>
                </a:lnTo>
                <a:cubicBezTo>
                  <a:pt x="10866" y="3195"/>
                  <a:pt x="11170" y="2892"/>
                  <a:pt x="11170" y="2535"/>
                </a:cubicBezTo>
                <a:cubicBezTo>
                  <a:pt x="11170" y="2161"/>
                  <a:pt x="10866" y="1857"/>
                  <a:pt x="10492" y="1857"/>
                </a:cubicBezTo>
                <a:lnTo>
                  <a:pt x="3926" y="1857"/>
                </a:lnTo>
                <a:lnTo>
                  <a:pt x="6388" y="1322"/>
                </a:lnTo>
                <a:cubicBezTo>
                  <a:pt x="6745" y="1233"/>
                  <a:pt x="6977" y="876"/>
                  <a:pt x="6888" y="519"/>
                </a:cubicBezTo>
                <a:cubicBezTo>
                  <a:pt x="6827" y="214"/>
                  <a:pt x="6544" y="0"/>
                  <a:pt x="624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50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BC49-1B02-43B8-A073-46E53A05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75" y="392425"/>
            <a:ext cx="5387946" cy="717900"/>
          </a:xfrm>
        </p:spPr>
        <p:txBody>
          <a:bodyPr/>
          <a:lstStyle/>
          <a:p>
            <a:r>
              <a:rPr lang="en-US" dirty="0"/>
              <a:t>DOCUMENTOS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68DA2-4457-4D89-8C78-50E0A1F0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48" y="2196462"/>
            <a:ext cx="6287451" cy="4269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6CCC3-DCE2-439F-BACC-E4EA3500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84" y="1167507"/>
            <a:ext cx="5650116" cy="586662"/>
          </a:xfrm>
          <a:prstGeom prst="rect">
            <a:avLst/>
          </a:prstGeom>
        </p:spPr>
      </p:pic>
      <p:pic>
        <p:nvPicPr>
          <p:cNvPr id="7170" name="Picture 2" descr="Constitución Política del Perú de 1993 - Wikipedia, la enciclopedia libre">
            <a:extLst>
              <a:ext uri="{FF2B5EF4-FFF2-40B4-BE49-F238E27FC236}">
                <a16:creationId xmlns:a16="http://schemas.microsoft.com/office/drawing/2014/main" id="{F117BA7D-8296-4FF1-B05C-DF53FF74D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3" r="14028" b="29886"/>
          <a:stretch/>
        </p:blipFill>
        <p:spPr bwMode="auto">
          <a:xfrm>
            <a:off x="7322427" y="607002"/>
            <a:ext cx="4215141" cy="585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2A4A5272-A439-4F3B-875B-B1F403A7C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52" y="1691851"/>
            <a:ext cx="4133848" cy="504611"/>
          </a:xfrm>
        </p:spPr>
        <p:txBody>
          <a:bodyPr/>
          <a:lstStyle/>
          <a:p>
            <a:pPr marL="0" indent="0"/>
            <a:r>
              <a:rPr lang="es-ES" dirty="0"/>
              <a:t>https://spij.minjus.gob.pe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45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EE1F-DAF5-4401-A67A-061E27F6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46" y="-326771"/>
            <a:ext cx="4458300" cy="2377200"/>
          </a:xfrm>
        </p:spPr>
        <p:txBody>
          <a:bodyPr/>
          <a:lstStyle/>
          <a:p>
            <a:r>
              <a:rPr lang="en-GB" dirty="0"/>
              <a:t>ARGILLA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D90B9-38B1-47B4-BA5D-5C81C1A9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28" y="1689284"/>
            <a:ext cx="9789886" cy="4816702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068E0F06-697A-4943-B488-DC2110FC4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212" y="1067375"/>
            <a:ext cx="8761753" cy="717900"/>
          </a:xfrm>
        </p:spPr>
        <p:txBody>
          <a:bodyPr/>
          <a:lstStyle/>
          <a:p>
            <a:r>
              <a:rPr lang="en-GB" dirty="0"/>
              <a:t>https://huggingface.co/spaces/somosnlp/PeruLegalLLMArgilla</a:t>
            </a:r>
          </a:p>
        </p:txBody>
      </p:sp>
    </p:spTree>
    <p:extLst>
      <p:ext uri="{BB962C8B-B14F-4D97-AF65-F5344CB8AC3E}">
        <p14:creationId xmlns:p14="http://schemas.microsoft.com/office/powerpoint/2010/main" val="302886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3" y="267060"/>
            <a:ext cx="5633160" cy="912495"/>
          </a:xfrm>
        </p:spPr>
        <p:txBody>
          <a:bodyPr/>
          <a:lstStyle/>
          <a:p>
            <a:r>
              <a:rPr lang="en-US" dirty="0"/>
              <a:t>DATASET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B0F6E-F7DE-44EF-B68C-8EB2B6350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3963" y="1033925"/>
            <a:ext cx="6171194" cy="717900"/>
          </a:xfrm>
        </p:spPr>
        <p:txBody>
          <a:bodyPr/>
          <a:lstStyle/>
          <a:p>
            <a:r>
              <a:rPr lang="en-GB" dirty="0"/>
              <a:t>https://huggingface.co/datasets/somosnlp/constitucion-politica-del-peru-1993-qa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2BACA-6107-44BC-8673-E2616660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45" y="1973553"/>
            <a:ext cx="11172496" cy="4463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DAE635-B031-4E00-8B16-A9445877B8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370"/>
          <a:stretch/>
        </p:blipFill>
        <p:spPr>
          <a:xfrm>
            <a:off x="830317" y="1110325"/>
            <a:ext cx="2333951" cy="707965"/>
          </a:xfrm>
          <a:prstGeom prst="rect">
            <a:avLst/>
          </a:prstGeom>
        </p:spPr>
      </p:pic>
      <p:sp>
        <p:nvSpPr>
          <p:cNvPr id="11" name="AutoShape 2" descr="Hugging Face's logo">
            <a:extLst>
              <a:ext uri="{FF2B5EF4-FFF2-40B4-BE49-F238E27FC236}">
                <a16:creationId xmlns:a16="http://schemas.microsoft.com/office/drawing/2014/main" id="{D4C53346-659B-4FF3-9651-850B09F34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4" descr="Hugging Face's logo">
            <a:extLst>
              <a:ext uri="{FF2B5EF4-FFF2-40B4-BE49-F238E27FC236}">
                <a16:creationId xmlns:a16="http://schemas.microsoft.com/office/drawing/2014/main" id="{80DA282C-920C-4A89-B038-029988C4C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267060"/>
            <a:ext cx="304800" cy="346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44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2" y="267060"/>
            <a:ext cx="7275941" cy="912495"/>
          </a:xfrm>
        </p:spPr>
        <p:txBody>
          <a:bodyPr/>
          <a:lstStyle/>
          <a:p>
            <a:r>
              <a:rPr lang="en-US" dirty="0"/>
              <a:t>ENTRENAMIENTO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B0F6E-F7DE-44EF-B68C-8EB2B6350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3709" y="3401800"/>
            <a:ext cx="4221795" cy="717900"/>
          </a:xfrm>
        </p:spPr>
        <p:txBody>
          <a:bodyPr/>
          <a:lstStyle/>
          <a:p>
            <a:r>
              <a:rPr lang="en-GB" dirty="0" err="1"/>
              <a:t>somosnlp</a:t>
            </a:r>
            <a:r>
              <a:rPr lang="en-GB" dirty="0"/>
              <a:t>/kuntur-peru-legal-es-gemma-2b-it-merged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14338" name="Picture 2" descr="Hugging Face - Current Openings">
            <a:extLst>
              <a:ext uri="{FF2B5EF4-FFF2-40B4-BE49-F238E27FC236}">
                <a16:creationId xmlns:a16="http://schemas.microsoft.com/office/drawing/2014/main" id="{6A85CFE3-C770-4395-B361-8F779C597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542" y="1221859"/>
            <a:ext cx="1420701" cy="142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B55973-21BA-4E53-83D7-84EEBD78E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29"/>
          <a:stretch/>
        </p:blipFill>
        <p:spPr>
          <a:xfrm>
            <a:off x="324969" y="2471354"/>
            <a:ext cx="2152645" cy="3095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32A080-FBA0-49CD-AA41-2F3A3248EB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660" b="9369"/>
          <a:stretch/>
        </p:blipFill>
        <p:spPr>
          <a:xfrm>
            <a:off x="291663" y="3570619"/>
            <a:ext cx="2219256" cy="319175"/>
          </a:xfrm>
          <a:prstGeom prst="rect">
            <a:avLst/>
          </a:prstGeom>
        </p:spPr>
      </p:pic>
      <p:pic>
        <p:nvPicPr>
          <p:cNvPr id="14342" name="Picture 6" descr="Google Unveils Gemma Open AI Model · Tokar.media">
            <a:extLst>
              <a:ext uri="{FF2B5EF4-FFF2-40B4-BE49-F238E27FC236}">
                <a16:creationId xmlns:a16="http://schemas.microsoft.com/office/drawing/2014/main" id="{7F581231-AAE3-407B-9070-1E2B11D1B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08" y="2761317"/>
            <a:ext cx="1776770" cy="99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9264B09E-53E7-4B19-A593-82CB1F59628D}"/>
              </a:ext>
            </a:extLst>
          </p:cNvPr>
          <p:cNvSpPr txBox="1">
            <a:spLocks/>
          </p:cNvSpPr>
          <p:nvPr/>
        </p:nvSpPr>
        <p:spPr>
          <a:xfrm>
            <a:off x="4617607" y="3730207"/>
            <a:ext cx="1888572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en-GB" dirty="0"/>
              <a:t>gemma-2b-it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5DDDA8-3C24-4D31-B93E-724F55A33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239" y="1540428"/>
            <a:ext cx="1888572" cy="1888572"/>
          </a:xfrm>
          <a:prstGeom prst="flowChartConnector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991064-A5E8-484D-8A52-7C8BC5FE76B4}"/>
              </a:ext>
            </a:extLst>
          </p:cNvPr>
          <p:cNvSpPr txBox="1"/>
          <p:nvPr/>
        </p:nvSpPr>
        <p:spPr>
          <a:xfrm>
            <a:off x="7932874" y="4734159"/>
            <a:ext cx="44034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BDB7AF"/>
                </a:solidFill>
                <a:effectLst/>
                <a:latin typeface="Source Sans Pro" panose="020B0503030403020204" pitchFamily="34" charset="0"/>
              </a:rPr>
              <a:t>ENVIRONMENTAL IMPACT </a:t>
            </a:r>
            <a:r>
              <a:rPr lang="en-US" b="1" i="0" dirty="0">
                <a:solidFill>
                  <a:srgbClr val="BDB7AF"/>
                </a:solidFill>
                <a:effectLst/>
                <a:latin typeface="Source Sans Pro" panose="020B0503030403020204" pitchFamily="34" charset="0"/>
              </a:rPr>
              <a:t>🌳</a:t>
            </a:r>
            <a:endParaRPr lang="en-GB" b="1" i="0" dirty="0">
              <a:solidFill>
                <a:srgbClr val="BDB7AF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1" i="0" dirty="0">
              <a:solidFill>
                <a:srgbClr val="CDC8C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DC8C2"/>
                </a:solidFill>
                <a:effectLst/>
                <a:latin typeface="Source Sans Pro" panose="020B0503030403020204" pitchFamily="34" charset="0"/>
              </a:rPr>
              <a:t>Hardware Type:</a:t>
            </a:r>
            <a:r>
              <a:rPr lang="en-GB" b="0" i="0" dirty="0">
                <a:solidFill>
                  <a:srgbClr val="B1AAA0"/>
                </a:solidFill>
                <a:effectLst/>
                <a:latin typeface="Source Sans Pro" panose="020B0503030403020204" pitchFamily="34" charset="0"/>
              </a:rPr>
              <a:t> NVIDIA A10G GPU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DC8C2"/>
                </a:solidFill>
                <a:effectLst/>
                <a:latin typeface="Source Sans Pro" panose="020B0503030403020204" pitchFamily="34" charset="0"/>
              </a:rPr>
              <a:t>Hours Utilized:</a:t>
            </a:r>
            <a:r>
              <a:rPr lang="en-GB" b="0" i="0" dirty="0">
                <a:solidFill>
                  <a:srgbClr val="B1AAA0"/>
                </a:solidFill>
                <a:effectLst/>
                <a:latin typeface="Source Sans Pro" panose="020B0503030403020204" pitchFamily="34" charset="0"/>
              </a:rPr>
              <a:t> Approximately 4 hours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DC8C2"/>
                </a:solidFill>
                <a:effectLst/>
                <a:latin typeface="Source Sans Pro" panose="020B0503030403020204" pitchFamily="34" charset="0"/>
              </a:rPr>
              <a:t>Energy Consumption:</a:t>
            </a:r>
            <a:r>
              <a:rPr lang="en-GB" b="0" i="0" dirty="0">
                <a:solidFill>
                  <a:srgbClr val="B1AAA0"/>
                </a:solidFill>
                <a:effectLst/>
                <a:latin typeface="Source Sans Pro" panose="020B0503030403020204" pitchFamily="34" charset="0"/>
              </a:rPr>
              <a:t> Approximately 300 </a:t>
            </a:r>
            <a:r>
              <a:rPr lang="en-GB" b="0" i="0" dirty="0" err="1">
                <a:solidFill>
                  <a:srgbClr val="B1AAA0"/>
                </a:solidFill>
                <a:effectLst/>
                <a:latin typeface="Source Sans Pro" panose="020B0503030403020204" pitchFamily="34" charset="0"/>
              </a:rPr>
              <a:t>Wh</a:t>
            </a:r>
            <a:endParaRPr lang="en-GB" b="0" i="0" dirty="0">
              <a:solidFill>
                <a:srgbClr val="B1AAA0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CDC8C2"/>
                </a:solidFill>
                <a:effectLst/>
                <a:latin typeface="Source Sans Pro" panose="020B0503030403020204" pitchFamily="34" charset="0"/>
              </a:rPr>
              <a:t>Estimated CO2 Emissions:</a:t>
            </a:r>
            <a:r>
              <a:rPr lang="en-GB" b="0" i="0" dirty="0">
                <a:solidFill>
                  <a:srgbClr val="B1AAA0"/>
                </a:solidFill>
                <a:effectLst/>
                <a:latin typeface="Source Sans Pro" panose="020B0503030403020204" pitchFamily="34" charset="0"/>
              </a:rPr>
              <a:t> Approximately 368.75 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CE6E7-9A68-4D91-879D-31537DC382C1}"/>
              </a:ext>
            </a:extLst>
          </p:cNvPr>
          <p:cNvSpPr txBox="1"/>
          <p:nvPr/>
        </p:nvSpPr>
        <p:spPr>
          <a:xfrm>
            <a:off x="4447827" y="4340657"/>
            <a:ext cx="30639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BDB7AF"/>
                </a:solidFill>
                <a:effectLst/>
                <a:latin typeface="Source Sans Pro" panose="020B0503030403020204" pitchFamily="34" charset="0"/>
              </a:rPr>
              <a:t>HIPERPARAMETERS</a:t>
            </a:r>
            <a:r>
              <a:rPr lang="en-US" b="1" i="0" dirty="0">
                <a:solidFill>
                  <a:srgbClr val="BDB7AF"/>
                </a:solidFill>
                <a:effectLst/>
                <a:latin typeface="Source Sans Pro" panose="020B0503030403020204" pitchFamily="34" charset="0"/>
              </a:rPr>
              <a:t>🤖</a:t>
            </a:r>
            <a:endParaRPr lang="en-GB" b="1" i="0" dirty="0">
              <a:solidFill>
                <a:srgbClr val="BDB7AF"/>
              </a:solidFill>
              <a:effectLst/>
              <a:latin typeface="Source Sans Pro" panose="020B0503030403020204" pitchFamily="34" charset="0"/>
            </a:endParaRPr>
          </a:p>
          <a:p>
            <a:endParaRPr lang="en-GB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num_train_epochs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2.5e-5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"paged_adamw_8bit"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evaluation_strategy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"steps"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eval_steps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save_total_limit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fp16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B1AAA0"/>
              </a:solidFill>
              <a:effectLst/>
              <a:latin typeface="Source Sans Pro" panose="020B0503030403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F521F3-699B-4888-8CC6-5C466717C42B}"/>
              </a:ext>
            </a:extLst>
          </p:cNvPr>
          <p:cNvCxnSpPr>
            <a:cxnSpLocks/>
            <a:stCxn id="13" idx="3"/>
            <a:endCxn id="14342" idx="1"/>
          </p:cNvCxnSpPr>
          <p:nvPr/>
        </p:nvCxnSpPr>
        <p:spPr>
          <a:xfrm>
            <a:off x="2477614" y="2626152"/>
            <a:ext cx="2195894" cy="634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AD908A-5996-47DA-9F88-4FA38BC196D4}"/>
              </a:ext>
            </a:extLst>
          </p:cNvPr>
          <p:cNvCxnSpPr>
            <a:cxnSpLocks/>
            <a:stCxn id="14" idx="3"/>
            <a:endCxn id="14342" idx="1"/>
          </p:cNvCxnSpPr>
          <p:nvPr/>
        </p:nvCxnSpPr>
        <p:spPr>
          <a:xfrm flipV="1">
            <a:off x="2510919" y="3261034"/>
            <a:ext cx="2162589" cy="46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3D0A90-07FF-4581-A052-3249D420FA55}"/>
              </a:ext>
            </a:extLst>
          </p:cNvPr>
          <p:cNvCxnSpPr>
            <a:cxnSpLocks/>
            <a:stCxn id="14342" idx="3"/>
            <a:endCxn id="16" idx="2"/>
          </p:cNvCxnSpPr>
          <p:nvPr/>
        </p:nvCxnSpPr>
        <p:spPr>
          <a:xfrm flipV="1">
            <a:off x="6450278" y="2484714"/>
            <a:ext cx="2514961" cy="77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7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217B47-942B-45CF-BA83-57CDD66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22" y="267060"/>
            <a:ext cx="7275941" cy="912495"/>
          </a:xfrm>
        </p:spPr>
        <p:txBody>
          <a:bodyPr/>
          <a:lstStyle/>
          <a:p>
            <a:r>
              <a:rPr lang="en-US" dirty="0"/>
              <a:t>RESULTADOS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CA1CE-AE98-41BC-B8C0-1185FAB07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4" y="1661538"/>
            <a:ext cx="5584526" cy="283740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DB5FE82-D86D-48E6-B834-A43CF1840D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17069" y="4649836"/>
            <a:ext cx="4154439" cy="2031937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023" rIns="0" bIns="46023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train/epoch: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49.62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train/global_step: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4,850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train/grad_norm: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3.5548949241638184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train/loss: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0.8596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train/total_flos: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236,149,029,419,876,350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train/train_loss: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1.105836234535139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train/train_runtime: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13,237.4947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train/train_samples_per_second: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5.9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4BFB7"/>
                </a:solidFill>
                <a:effectLst/>
                <a:latin typeface="Source Sans Pro" panose="020B0503030403020204" pitchFamily="34" charset="0"/>
              </a:rPr>
              <a:t>train/train_steps_per_second: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38194"/>
                </a:solidFill>
                <a:effectLst/>
                <a:latin typeface="Source Sans Pro" panose="020B0503030403020204" pitchFamily="34" charset="0"/>
              </a:rPr>
              <a:t>0.366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C4BFB7"/>
              </a:solidFill>
              <a:effectLst/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60308-5EB5-4C86-80BD-D4C2CBD6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131" y="1661539"/>
            <a:ext cx="5524396" cy="2837403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0EF897D5-7A42-498A-9877-55C1080BA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6478" y="4789832"/>
            <a:ext cx="3637970" cy="1570272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46023" rIns="0" bIns="46023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600" dirty="0">
              <a:solidFill>
                <a:srgbClr val="C4BFB7"/>
              </a:solidFill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C4BFB7"/>
                </a:solidFill>
                <a:latin typeface="Source Sans Pro" panose="020B0503030403020204" pitchFamily="34" charset="0"/>
              </a:rPr>
              <a:t>eval/loss:</a:t>
            </a:r>
            <a:r>
              <a:rPr lang="en-US" altLang="en-US" sz="1600" dirty="0">
                <a:solidFill>
                  <a:srgbClr val="038194"/>
                </a:solidFill>
                <a:latin typeface="Source Sans Pro" panose="020B0503030403020204" pitchFamily="34" charset="0"/>
              </a:rPr>
              <a:t>1.1386919021606443</a:t>
            </a:r>
            <a:endParaRPr lang="en-US" altLang="en-US" sz="1600" dirty="0">
              <a:solidFill>
                <a:srgbClr val="C4BFB7"/>
              </a:solidFill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C4BFB7"/>
                </a:solidFill>
                <a:latin typeface="Source Sans Pro" panose="020B0503030403020204" pitchFamily="34" charset="0"/>
              </a:rPr>
              <a:t>eval/runtime:</a:t>
            </a:r>
            <a:r>
              <a:rPr lang="en-US" altLang="en-US" sz="1600" dirty="0">
                <a:solidFill>
                  <a:srgbClr val="038194"/>
                </a:solidFill>
                <a:latin typeface="Source Sans Pro" panose="020B0503030403020204" pitchFamily="34" charset="0"/>
              </a:rPr>
              <a:t>44.2153</a:t>
            </a:r>
            <a:endParaRPr lang="en-US" altLang="en-US" sz="1600" dirty="0">
              <a:solidFill>
                <a:srgbClr val="C4BFB7"/>
              </a:solidFill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C4BFB7"/>
                </a:solidFill>
                <a:latin typeface="Source Sans Pro" panose="020B0503030403020204" pitchFamily="34" charset="0"/>
              </a:rPr>
              <a:t>eval/samples_per_second:</a:t>
            </a:r>
            <a:r>
              <a:rPr lang="en-US" altLang="en-US" sz="1600" dirty="0">
                <a:solidFill>
                  <a:srgbClr val="038194"/>
                </a:solidFill>
                <a:latin typeface="Source Sans Pro" panose="020B0503030403020204" pitchFamily="34" charset="0"/>
              </a:rPr>
              <a:t>8.707</a:t>
            </a:r>
            <a:endParaRPr lang="en-US" altLang="en-US" sz="1600" dirty="0">
              <a:solidFill>
                <a:srgbClr val="C4BFB7"/>
              </a:solidFill>
              <a:latin typeface="Source Sans Pro" panose="020B0503030403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C4BFB7"/>
                </a:solidFill>
                <a:latin typeface="Source Sans Pro" panose="020B0503030403020204" pitchFamily="34" charset="0"/>
              </a:rPr>
              <a:t>eval/steps_per_second:</a:t>
            </a:r>
            <a:r>
              <a:rPr lang="en-US" altLang="en-US" sz="1600" dirty="0">
                <a:solidFill>
                  <a:srgbClr val="038194"/>
                </a:solidFill>
                <a:latin typeface="Source Sans Pro" panose="020B0503030403020204" pitchFamily="34" charset="0"/>
              </a:rPr>
              <a:t>8.707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600" dirty="0">
              <a:solidFill>
                <a:srgbClr val="C4BFB7"/>
              </a:solidFill>
              <a:latin typeface="Source Sans Pro" panose="020B0503030403020204" pitchFamily="34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F6EACC1-9292-4F8E-9562-12EFBFB128D7}"/>
              </a:ext>
            </a:extLst>
          </p:cNvPr>
          <p:cNvSpPr txBox="1">
            <a:spLocks/>
          </p:cNvSpPr>
          <p:nvPr/>
        </p:nvSpPr>
        <p:spPr>
          <a:xfrm>
            <a:off x="2094751" y="1151693"/>
            <a:ext cx="239247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en-GB" dirty="0" err="1"/>
              <a:t>Entrenamiento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4F46201F-D8D3-45DD-ADBE-D50FEE0A7BC6}"/>
              </a:ext>
            </a:extLst>
          </p:cNvPr>
          <p:cNvSpPr txBox="1">
            <a:spLocks/>
          </p:cNvSpPr>
          <p:nvPr/>
        </p:nvSpPr>
        <p:spPr>
          <a:xfrm>
            <a:off x="8037043" y="1147984"/>
            <a:ext cx="1888572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en-GB" dirty="0" err="1"/>
              <a:t>Evaluacion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876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5FD97E-6922-4716-84A7-3878D706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84" y="384077"/>
            <a:ext cx="10641831" cy="59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15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D252AC-3831-42F7-A7A2-EB34C9D6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77" y="1888000"/>
            <a:ext cx="10221902" cy="3467395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8B6B7B8-E5F5-4FA1-AFE3-246D9CB30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88" y="491118"/>
            <a:ext cx="7275941" cy="912495"/>
          </a:xfrm>
        </p:spPr>
        <p:txBody>
          <a:bodyPr/>
          <a:lstStyle/>
          <a:p>
            <a:r>
              <a:rPr lang="en-US" dirty="0"/>
              <a:t>PROMPT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654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5A72A3-3CC8-4BFC-9C41-20A65DC26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40" y="2198679"/>
            <a:ext cx="11638919" cy="386361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1B52460-312E-48C9-9B62-3B9E1EB55570}"/>
              </a:ext>
            </a:extLst>
          </p:cNvPr>
          <p:cNvSpPr txBox="1">
            <a:spLocks/>
          </p:cNvSpPr>
          <p:nvPr/>
        </p:nvSpPr>
        <p:spPr>
          <a:xfrm>
            <a:off x="132726" y="1371778"/>
            <a:ext cx="7775926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rPr lang="en-GB" dirty="0"/>
              <a:t>https://huggingface.co/spaces/somosnlp/KUNTUR</a:t>
            </a:r>
          </a:p>
        </p:txBody>
      </p:sp>
      <p:pic>
        <p:nvPicPr>
          <p:cNvPr id="16388" name="Picture 4" descr="Building interactive applications with a simple yet powerful Python library  — Gradio | by Gen. David L. | Medium">
            <a:extLst>
              <a:ext uri="{FF2B5EF4-FFF2-40B4-BE49-F238E27FC236}">
                <a16:creationId xmlns:a16="http://schemas.microsoft.com/office/drawing/2014/main" id="{822F2436-7362-40B9-9D04-2CA91D93B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6" b="30824"/>
          <a:stretch/>
        </p:blipFill>
        <p:spPr bwMode="auto">
          <a:xfrm>
            <a:off x="340692" y="469004"/>
            <a:ext cx="3498577" cy="84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16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859CA2-ACB5-409A-B4AC-959C89197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2991" y="1446483"/>
            <a:ext cx="5801294" cy="43437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Ampliar el proceso a todos los documentos legales básicos del Perú.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Implementar estructuras multimodales como RAG o </a:t>
            </a:r>
            <a:r>
              <a:rPr lang="es-ES" dirty="0" err="1"/>
              <a:t>Embeddings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Traducir el </a:t>
            </a:r>
            <a:r>
              <a:rPr lang="es-ES" dirty="0" err="1"/>
              <a:t>dataset</a:t>
            </a:r>
            <a:r>
              <a:rPr lang="es-ES" dirty="0"/>
              <a:t> al quechua, idioma crucial en el contexto peruano.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Integrar</a:t>
            </a:r>
            <a:r>
              <a:rPr lang="en-GB" dirty="0"/>
              <a:t> Machine Learning Compilation for Large Language Models (MLC LLM) para </a:t>
            </a:r>
            <a:r>
              <a:rPr lang="en-GB" dirty="0" err="1"/>
              <a:t>poder</a:t>
            </a:r>
            <a:r>
              <a:rPr lang="en-GB" dirty="0"/>
              <a:t> </a:t>
            </a:r>
            <a:r>
              <a:rPr lang="en-GB" dirty="0" err="1"/>
              <a:t>ejecutar</a:t>
            </a:r>
            <a:r>
              <a:rPr lang="en-GB" dirty="0"/>
              <a:t> el </a:t>
            </a:r>
            <a:r>
              <a:rPr lang="en-GB" dirty="0" err="1"/>
              <a:t>modelo</a:t>
            </a:r>
            <a:r>
              <a:rPr lang="en-GB" dirty="0"/>
              <a:t> en iOS y Android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1DB04A-B8A6-4B9D-A479-DAFF6D54D4FC}"/>
              </a:ext>
            </a:extLst>
          </p:cNvPr>
          <p:cNvSpPr txBox="1">
            <a:spLocks/>
          </p:cNvSpPr>
          <p:nvPr/>
        </p:nvSpPr>
        <p:spPr>
          <a:xfrm>
            <a:off x="572915" y="500135"/>
            <a:ext cx="4416924" cy="71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4000" dirty="0" err="1"/>
              <a:t>Consideraciones</a:t>
            </a:r>
            <a:endParaRPr lang="en-GB" sz="4000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67F7753-B68B-4660-9743-E8F9ACC64D75}"/>
              </a:ext>
            </a:extLst>
          </p:cNvPr>
          <p:cNvSpPr txBox="1">
            <a:spLocks/>
          </p:cNvSpPr>
          <p:nvPr/>
        </p:nvSpPr>
        <p:spPr>
          <a:xfrm>
            <a:off x="4511444" y="310880"/>
            <a:ext cx="8424389" cy="113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Roboto"/>
              <a:buNone/>
              <a:defRPr sz="15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algn="ctr"/>
            <a:r>
              <a:rPr lang="en-US" sz="4000" dirty="0" err="1"/>
              <a:t>Futuras</a:t>
            </a:r>
            <a:r>
              <a:rPr lang="en-US" sz="4000" dirty="0"/>
              <a:t> </a:t>
            </a:r>
            <a:r>
              <a:rPr lang="en-US" sz="4000" dirty="0" err="1"/>
              <a:t>implementaciones</a:t>
            </a:r>
            <a:endParaRPr lang="en-GB" sz="40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AB119C-3875-4193-BEE2-3A029969C5E7}"/>
              </a:ext>
            </a:extLst>
          </p:cNvPr>
          <p:cNvSpPr txBox="1">
            <a:spLocks/>
          </p:cNvSpPr>
          <p:nvPr/>
        </p:nvSpPr>
        <p:spPr>
          <a:xfrm>
            <a:off x="379991" y="1446483"/>
            <a:ext cx="5443000" cy="3561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None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Es crucial realizar una evaluación completa del modelo utilizando métricas adicionales y conjuntos de datos de evaluación más amplios y diversos para comprender su rendimiento real en la tarea de procesamiento de documentos legales.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114300" indent="0"/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Es fundamental garantizar que el modelo cumpla con las regulaciones y estándares éticos relevantes en el procesamiento de documentos legales, para proteger la privacidad y la seguridad de la información.</a:t>
            </a:r>
          </a:p>
          <a:p>
            <a:pPr marL="114300" indent="0"/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03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r>
              <a:rPr lang="en" sz="9000" dirty="0">
                <a:solidFill>
                  <a:schemeClr val="accent3"/>
                </a:solidFill>
              </a:rPr>
              <a:t>!</a:t>
            </a:r>
            <a:endParaRPr sz="9000" dirty="0">
              <a:solidFill>
                <a:schemeClr val="accent3"/>
              </a:solidFill>
            </a:endParaRPr>
          </a:p>
        </p:txBody>
      </p:sp>
      <p:sp>
        <p:nvSpPr>
          <p:cNvPr id="854" name="Google Shape;854;p43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¿Preguntas?</a:t>
            </a:r>
            <a:endParaRPr dirty="0"/>
          </a:p>
        </p:txBody>
      </p:sp>
      <p:sp>
        <p:nvSpPr>
          <p:cNvPr id="861" name="Google Shape;861;p43"/>
          <p:cNvSpPr txBox="1">
            <a:spLocks noGrp="1"/>
          </p:cNvSpPr>
          <p:nvPr>
            <p:ph type="body" idx="2"/>
          </p:nvPr>
        </p:nvSpPr>
        <p:spPr>
          <a:xfrm>
            <a:off x="7525000" y="3134811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	</a:t>
            </a:r>
            <a:r>
              <a:rPr lang="en-US" dirty="0" err="1"/>
              <a:t>davidquicast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0EAB5-F784-4B56-B3A2-BFE65964B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89" y="3396230"/>
            <a:ext cx="545461" cy="5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28555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650</Words>
  <Application>Microsoft Office PowerPoint</Application>
  <PresentationFormat>Widescreen</PresentationFormat>
  <Paragraphs>92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Roboto Mono</vt:lpstr>
      <vt:lpstr>Source Sans Pro</vt:lpstr>
      <vt:lpstr>Aldrich</vt:lpstr>
      <vt:lpstr>Calibri</vt:lpstr>
      <vt:lpstr>Abril Fatface</vt:lpstr>
      <vt:lpstr>Consolas</vt:lpstr>
      <vt:lpstr>Roboto</vt:lpstr>
      <vt:lpstr>SlidesMania</vt:lpstr>
      <vt:lpstr>KUNTUR LLM DE ASISTENCIA LEGAL EN TEXTOS JURIDICOS DE PERÚ</vt:lpstr>
      <vt:lpstr>CONTEXTO</vt:lpstr>
      <vt:lpstr>PROBLEMA</vt:lpstr>
      <vt:lpstr>MOTIVACION</vt:lpstr>
      <vt:lpstr>OBJETIVO</vt:lpstr>
      <vt:lpstr>METODOLOGÍA</vt:lpstr>
      <vt:lpstr>DOCUMENTOS</vt:lpstr>
      <vt:lpstr>ARGILLA</vt:lpstr>
      <vt:lpstr>DATASET</vt:lpstr>
      <vt:lpstr>ENTRENAMIENTO</vt:lpstr>
      <vt:lpstr>RESULTADOS</vt:lpstr>
      <vt:lpstr>PowerPoint Presentation</vt:lpstr>
      <vt:lpstr>PROMPT</vt:lpstr>
      <vt:lpstr>PowerPoint Presentation</vt:lpstr>
      <vt:lpstr>PowerPoint Presentation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 ADD YOUR PRESENTATION TITLE.</dc:title>
  <cp:lastModifiedBy>David Alonso Quispe Castillo</cp:lastModifiedBy>
  <cp:revision>75</cp:revision>
  <dcterms:modified xsi:type="dcterms:W3CDTF">2026-10-04T18:04:13Z</dcterms:modified>
</cp:coreProperties>
</file>